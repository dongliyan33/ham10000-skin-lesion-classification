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HAM10000 Skin Lesion Classification and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Final Project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Six classification checkpoints • lesion segmentation • Apple MPS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All figures and metrics come from saved experiments</a:t>
            </a:r>
          </a:p>
        </p:txBody>
      </p:sp>
      <p:pic>
        <p:nvPicPr>
          <p:cNvPr id="5" name="Picture 4" descr="datas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1516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Early and consistent lesion assessment is clinically valuable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Dermoscopic classes have overlapping appearance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Class imbalance can hide minority-class failures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Segmentation adds spatial lesion localization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Transfer learning reuses ImageNet feature representations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Residual, dense, VGG and compound-scaled CNNs capture features differently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U-Net combines encoder context with decoder localization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Accuracy is reported together with macro and weighted F1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HAM10000: 10,015 dermoscopic RGB images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Seven diagnoses; nv is the majority class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10,015 genuine lesion segmentation masks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Official source: Harvard Dataverse (doi:10.7910/DVN/DBW86T)</a:t>
            </a:r>
          </a:p>
        </p:txBody>
      </p:sp>
      <p:pic>
        <p:nvPicPr>
          <p:cNvPr id="5" name="Picture 4" descr="datase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15162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Split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Canonical lesion-level split with seed 42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7,967 training / 2,048 validation images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Classification: 224×224 and ImageNet normalization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Segmentation: paired 128×128 image/mask transforms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No independent external test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Classification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ResNet50: residual connections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VGG16/VGG19: deep sequential convolution blocks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DenseNet121: dense feature reuse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EfficientNet-B0: compound depth/width/resolution scaling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All existing checkpoints evaluated without retraining</a:t>
            </a:r>
          </a:p>
        </p:txBody>
      </p:sp>
      <p:pic>
        <p:nvPicPr>
          <p:cNvPr id="5" name="Picture 4" descr="five_architectur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Custom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Four convolutional blocks with batch normalization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Adaptive pooling and a compact classification head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423,175 parameters — smallest classifier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Canonical accuracy 48.29%; macro F1 0.3376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No epoch history was fabricated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Segmentation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Compact U-Net with four encoder/decoder levels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Skip connections preserve spatial information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BCE + soft Dice objective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Adam, batch size 32, five epochs, MPS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Ground truth comes from real HAM10000 masks</a:t>
            </a:r>
          </a:p>
        </p:txBody>
      </p:sp>
      <p:pic>
        <p:nvPicPr>
          <p:cNvPr id="5" name="Picture 4" descr="segmen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macOS / Apple Silicon / Python 3.13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PyTorch 2.13.0 and torchvision 0.28.0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All final classification inference device: mps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Same 2,048 image IDs for every classifier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Metrics: accuracy, precision, recall, F1 and confusion matrices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Best: EfficientNetB0 — 87.70% accuracy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Macro F1 0.8075; weighted F1 0.8741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Accuracy–macro F1 gaps reveal class imbalance</a:t>
            </a:r>
          </a:p>
        </p:txBody>
      </p:sp>
      <p:pic>
        <p:nvPicPr>
          <p:cNvPr id="5" name="Picture 4" descr="canonical_accuracy_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Best Model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EfficientNet-B0 performs strongly on nv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Melanoma remains a difficult minority class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Major confusion includes mel → nv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Per-class analysis is required for safe interpretation</a:t>
            </a:r>
          </a:p>
        </p:txBody>
      </p:sp>
      <p:pic>
        <p:nvPicPr>
          <p:cNvPr id="5" name="Picture 4" descr="EfficientNetB0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4846320" cy="376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Segmentation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Dice: 0.9176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IoU: 0.8613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Precision: 0.9582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Recall: 0.8983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Strong overlap on the internal lesion-level validation set</a:t>
            </a:r>
          </a:p>
        </p:txBody>
      </p:sp>
      <p:pic>
        <p:nvPicPr>
          <p:cNvPr id="5" name="Picture 4" descr="segmen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Discussion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EfficientNet-B0 offers the best accuracy/parameter balance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VGG models are substantially larger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Historical training protocols were not identical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Canonical inference aligns samples but not training exposure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No external test cohort or clinical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EfficientNet-B0: 87.70% canonical accuracy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U-Net: Dice 0.9176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Use one fixed split before future training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Improve imbalance handling and calibration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Evaluate externally and explore joint multi-task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070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[1] Tschandl et al., HAM10000, Scientific Data, 2018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[2] Paszke et al., PyTorch, NeurIPS, 2019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[3] Tan and Le, EfficientNet, ICML, 2019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[4] He et al., ResNet, CVPR, 2016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[5] Huang et al., DenseNet, CVPR, 2017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[6] Simonyan and Zisserman, VGG, ICLR, 2015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[7] Ronneberger et al., U-Net, MICCAI, 2015</a:t>
            </a:r>
          </a:p>
          <a:p>
            <a:pPr>
              <a:spcAft>
                <a:spcPts val="1200"/>
              </a:spcAft>
              <a:defRPr sz="1900">
                <a:solidFill>
                  <a:srgbClr val="1E293B"/>
                </a:solidFill>
              </a:defRPr>
            </a:pPr>
            <a:r>
              <a:t>[8] Abou El Houda et al., IEEE TNSE,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